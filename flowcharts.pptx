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68" d="100"/>
          <a:sy n="68" d="100"/>
        </p:scale>
        <p:origin x="616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C91834-B535-46CC-E223-8C025279B7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B21DFDC-5122-5AEC-EAFE-622F0BB351F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AF6078-923E-0082-40F9-D1CB74CC0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5B75047-8EDE-1358-2E8E-0E9CF994B9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14133F-CEBB-E945-BD28-4AD4E9706E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7749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DEFAFA-D0D5-2D35-7B82-FFBE6CD611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E4E66B-9944-41E6-744B-4EE6865336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9F8B606-057B-910C-D9F4-72A8272E0F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ED52D-5D5F-8DE7-52A4-A6EB3932B4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5F8B40-671F-EBE3-4618-49F25B16D1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89398012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D284F6-E32E-A217-FFA8-182F188F9A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D0CDEC1-0599-AF6B-8CE5-099EFA4AC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3D6AFD-268D-19D8-D6B8-D5F8107B33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3974449-9B74-23A3-0E99-8647A1B796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ACA503-5581-1E3D-FAAF-98FC91D0ED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946266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BD4B30-A6CC-191D-E647-518465664BF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5190E3-9B77-3AF1-87C1-CB99B6F95D2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D0598C9-9A57-061E-7004-E291D4EE24F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D484D9-F6E4-FDAA-A9E1-6C58670216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DD944B-508C-A7E2-6EDC-080452510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534AE2F-2F17-1C80-748E-2B2F40F84F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0938830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C66D5-92B2-778D-5421-DE8C1B3845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D2F513-E817-9418-2F38-55201E5689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BABE7A-F69E-B034-1E60-1598EE96CC3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9510E80-8203-8F18-F414-C7C97FDEE32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CDFF3E5-0894-A47A-6CEE-F4D9E16B5A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662A52E-5E4D-6F32-F432-7A3F97177F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DDC9D86-4E84-451C-3B3A-CB5A8A310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8E0A32B-85F3-360C-1AEF-B835F4B96E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29105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D441D-1AD5-E776-4C5C-0FFA2B7A44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438E578-C7A0-E524-E54C-F9540228C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66B7D70-CB76-AF0B-D570-B9CB75518B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F1489C-2558-8EC3-C21B-A1B4424951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364744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4324019-B386-CEBF-29EF-30D2CD0277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B572E3B-BDC6-0EE0-5440-1FF538CF48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5B66082-DED8-A090-A57E-467FCDD343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409825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51947B-834B-F0E9-37B7-E44A89030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2587D41-CEFB-DA37-3923-C087EE08FBF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0BC69F-321C-4B85-351C-F94565D349E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547708-B821-3FBF-9F41-9953B574BEE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3AA7FBA-E136-5829-1D9A-1BEF01DE29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A908BA-0DE3-F8FE-EDCE-E135A1C566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180535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700306-7B40-0856-9642-655BF0CA93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D219D9F-EDC6-717D-9356-A7D454C7ACA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940225B-2C2B-18F9-7F15-55660D60B2C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7A36F1B-3C75-EC20-8432-493AF4E422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B311F8-29D1-8238-526A-77DA7E3A81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12CE1C1-7B04-FD4F-E644-3D72CBC030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894466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9E5E6-45D3-7B68-1E7E-06A634A021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BBC6399-BF5D-DCA3-4FDC-85DCCBD7A6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FB99C1-B113-5DDF-2827-95E1E4DC0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66F05B7-3CE0-E415-3B9E-942D1E599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F120ECA-B2B4-B3E6-C0B4-DCC9F69831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9378199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FCDC28A-EAC2-1A1D-708E-C77F8A99A1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47A00B-3200-77C2-3C79-006D706BC3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0D59192-0C6C-1F95-DFAB-0526E84715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AD9509C-8812-60B1-0038-31FB72AFFF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F7233-FF33-6CC3-FC97-E12830CE2D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602416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412B3D-424D-378C-A5BF-0E1BCEEEB3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29ED602-0851-CFD0-1C3B-AACD2A4C39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016EB7-B874-FDFB-CEB6-5AAC06671F9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5D7A36-B587-4B8A-B0AA-421FE53224E2}" type="datetimeFigureOut">
              <a:rPr lang="en-GB" smtClean="0"/>
              <a:t>07/05/2023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513EE4E-B887-0D4F-A080-3C71B6BFF54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E4B82B-8CA8-400F-26EC-10093E86E6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EA4044E-7E76-4AB7-ADFC-9241BD90C7E9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57401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9.svg"/><Relationship Id="rId5" Type="http://schemas.openxmlformats.org/officeDocument/2006/relationships/image" Target="../media/image4.sv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microsoft.com/office/2007/relationships/hdphoto" Target="../media/hdphoto1.wdp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4.svg"/><Relationship Id="rId7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jpeg"/><Relationship Id="rId10" Type="http://schemas.openxmlformats.org/officeDocument/2006/relationships/image" Target="../media/image9.svg"/><Relationship Id="rId4" Type="http://schemas.openxmlformats.org/officeDocument/2006/relationships/image" Target="../media/image5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7D8CC4-18C1-8BA3-D0A1-19C2820C2AF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1A8624-6680-7C87-BF98-87A750A4799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464913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 descr="Man outline">
            <a:extLst>
              <a:ext uri="{FF2B5EF4-FFF2-40B4-BE49-F238E27FC236}">
                <a16:creationId xmlns:a16="http://schemas.microsoft.com/office/drawing/2014/main" id="{3FE435E2-B275-8285-48EE-20D14EAEBD4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17399" y="2744274"/>
            <a:ext cx="1407160" cy="1407160"/>
          </a:xfrm>
          <a:prstGeom prst="rect">
            <a:avLst/>
          </a:prstGeom>
        </p:spPr>
      </p:pic>
      <p:pic>
        <p:nvPicPr>
          <p:cNvPr id="5" name="Graphic 4" descr="Clipboard outline">
            <a:extLst>
              <a:ext uri="{FF2B5EF4-FFF2-40B4-BE49-F238E27FC236}">
                <a16:creationId xmlns:a16="http://schemas.microsoft.com/office/drawing/2014/main" id="{9891545E-F24A-9D41-418A-8C308931EAA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988743" y="1714108"/>
            <a:ext cx="914400" cy="9144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66B61-001B-3076-7569-8764EBEE081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988743" y="3820307"/>
            <a:ext cx="1323209" cy="1284966"/>
          </a:xfrm>
          <a:prstGeom prst="rect">
            <a:avLst/>
          </a:prstGeom>
        </p:spPr>
      </p:pic>
      <p:pic>
        <p:nvPicPr>
          <p:cNvPr id="1032" name="Picture 8" descr="Deep learning AI linear icon. Neural network with cogwheels. Thin line  illustration. Digital brain. Artificial intelligence. Contour symbol. Vector  is Stock Vector Image &amp; Art - Alamy">
            <a:extLst>
              <a:ext uri="{FF2B5EF4-FFF2-40B4-BE49-F238E27FC236}">
                <a16:creationId xmlns:a16="http://schemas.microsoft.com/office/drawing/2014/main" id="{92A20C11-208F-FD8C-B215-959A56B32FF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887"/>
          <a:stretch/>
        </p:blipFill>
        <p:spPr bwMode="auto">
          <a:xfrm>
            <a:off x="7649115" y="2653297"/>
            <a:ext cx="2185639" cy="193273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F6CAB60-1246-C4CF-0916-293A35036305}"/>
              </a:ext>
            </a:extLst>
          </p:cNvPr>
          <p:cNvSpPr txBox="1"/>
          <p:nvPr/>
        </p:nvSpPr>
        <p:spPr>
          <a:xfrm>
            <a:off x="672547" y="4151434"/>
            <a:ext cx="914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Patient</a:t>
            </a:r>
            <a:endParaRPr lang="en-GB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B56EFEC-9742-839C-AAB1-B38C1EC1F1E0}"/>
              </a:ext>
            </a:extLst>
          </p:cNvPr>
          <p:cNvSpPr txBox="1"/>
          <p:nvPr/>
        </p:nvSpPr>
        <p:spPr>
          <a:xfrm>
            <a:off x="2522148" y="2628508"/>
            <a:ext cx="200448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Blood test results and other numerical metrics</a:t>
            </a:r>
            <a:endParaRPr lang="en-GB" sz="14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666613B-CB9F-02E1-7637-31214FC6D053}"/>
              </a:ext>
            </a:extLst>
          </p:cNvPr>
          <p:cNvSpPr txBox="1"/>
          <p:nvPr/>
        </p:nvSpPr>
        <p:spPr>
          <a:xfrm>
            <a:off x="2853279" y="4954987"/>
            <a:ext cx="177520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Medical scans such are MRI, CT, ECG etc..</a:t>
            </a:r>
            <a:endParaRPr lang="en-GB" sz="1400" dirty="0"/>
          </a:p>
        </p:txBody>
      </p:sp>
      <p:cxnSp>
        <p:nvCxnSpPr>
          <p:cNvPr id="12" name="Connector: Elbow 11">
            <a:extLst>
              <a:ext uri="{FF2B5EF4-FFF2-40B4-BE49-F238E27FC236}">
                <a16:creationId xmlns:a16="http://schemas.microsoft.com/office/drawing/2014/main" id="{D016BFC5-F6C8-536E-BCC0-A111B5F24913}"/>
              </a:ext>
            </a:extLst>
          </p:cNvPr>
          <p:cNvCxnSpPr>
            <a:stCxn id="3" idx="3"/>
            <a:endCxn id="5" idx="1"/>
          </p:cNvCxnSpPr>
          <p:nvPr/>
        </p:nvCxnSpPr>
        <p:spPr>
          <a:xfrm flipV="1">
            <a:off x="1824559" y="2171308"/>
            <a:ext cx="1164184" cy="127654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D362A707-4B2C-C7B5-6C04-ED5229917B04}"/>
              </a:ext>
            </a:extLst>
          </p:cNvPr>
          <p:cNvCxnSpPr>
            <a:cxnSpLocks/>
            <a:stCxn id="3" idx="3"/>
            <a:endCxn id="7" idx="1"/>
          </p:cNvCxnSpPr>
          <p:nvPr/>
        </p:nvCxnSpPr>
        <p:spPr>
          <a:xfrm>
            <a:off x="1824559" y="3447854"/>
            <a:ext cx="1164184" cy="1014936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034" name="Picture 10" descr="ML Metadata: Version Control for ML — The TensorFlow Blog">
            <a:extLst>
              <a:ext uri="{FF2B5EF4-FFF2-40B4-BE49-F238E27FC236}">
                <a16:creationId xmlns:a16="http://schemas.microsoft.com/office/drawing/2014/main" id="{195BAA05-111D-171B-BCF3-99710ED6E7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2837" y="1686963"/>
            <a:ext cx="1166325" cy="96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ML Metadata: Version Control for ML — The TensorFlow Blog">
            <a:extLst>
              <a:ext uri="{FF2B5EF4-FFF2-40B4-BE49-F238E27FC236}">
                <a16:creationId xmlns:a16="http://schemas.microsoft.com/office/drawing/2014/main" id="{CDF3664C-1B81-645F-4E33-C8CDEBDA67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4374" y="3978129"/>
            <a:ext cx="1166325" cy="9686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D62203D6-8F22-1A48-FB62-A44B2D93CEBA}"/>
              </a:ext>
            </a:extLst>
          </p:cNvPr>
          <p:cNvCxnSpPr>
            <a:stCxn id="7" idx="3"/>
            <a:endCxn id="22" idx="1"/>
          </p:cNvCxnSpPr>
          <p:nvPr/>
        </p:nvCxnSpPr>
        <p:spPr>
          <a:xfrm flipV="1">
            <a:off x="4311952" y="4462474"/>
            <a:ext cx="1202422" cy="3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AF28E812-0D9A-DA40-8C36-CD68A886966F}"/>
              </a:ext>
            </a:extLst>
          </p:cNvPr>
          <p:cNvCxnSpPr>
            <a:stCxn id="5" idx="3"/>
            <a:endCxn id="1034" idx="1"/>
          </p:cNvCxnSpPr>
          <p:nvPr/>
        </p:nvCxnSpPr>
        <p:spPr>
          <a:xfrm>
            <a:off x="3903143" y="2171308"/>
            <a:ext cx="160969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CF2D2A82-D175-DE5C-F466-427738C1CB21}"/>
              </a:ext>
            </a:extLst>
          </p:cNvPr>
          <p:cNvSpPr txBox="1"/>
          <p:nvPr/>
        </p:nvSpPr>
        <p:spPr>
          <a:xfrm>
            <a:off x="5310732" y="2748296"/>
            <a:ext cx="1740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Pre-processing layer</a:t>
            </a:r>
            <a:endParaRPr lang="en-GB" sz="1400" dirty="0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2AF1A97-770E-CEDB-A81D-4456D305536E}"/>
              </a:ext>
            </a:extLst>
          </p:cNvPr>
          <p:cNvSpPr txBox="1"/>
          <p:nvPr/>
        </p:nvSpPr>
        <p:spPr>
          <a:xfrm>
            <a:off x="5303718" y="4908820"/>
            <a:ext cx="1740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Pre-processing layer</a:t>
            </a:r>
            <a:endParaRPr lang="en-GB" sz="1400" dirty="0"/>
          </a:p>
        </p:txBody>
      </p: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FAD44860-1194-5793-7DD9-A59458211126}"/>
              </a:ext>
            </a:extLst>
          </p:cNvPr>
          <p:cNvCxnSpPr>
            <a:cxnSpLocks/>
            <a:stCxn id="1034" idx="3"/>
          </p:cNvCxnSpPr>
          <p:nvPr/>
        </p:nvCxnSpPr>
        <p:spPr>
          <a:xfrm>
            <a:off x="6679162" y="2171308"/>
            <a:ext cx="1145085" cy="38934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08A34021-BC3D-6477-A638-3964ECB6123B}"/>
              </a:ext>
            </a:extLst>
          </p:cNvPr>
          <p:cNvCxnSpPr>
            <a:cxnSpLocks/>
            <a:stCxn id="22" idx="3"/>
          </p:cNvCxnSpPr>
          <p:nvPr/>
        </p:nvCxnSpPr>
        <p:spPr>
          <a:xfrm flipV="1">
            <a:off x="6680699" y="4151434"/>
            <a:ext cx="1068134" cy="31104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43" name="Graphic 42" descr="Document outline">
            <a:extLst>
              <a:ext uri="{FF2B5EF4-FFF2-40B4-BE49-F238E27FC236}">
                <a16:creationId xmlns:a16="http://schemas.microsoft.com/office/drawing/2014/main" id="{A05C8907-EF49-FBD2-AE90-801B591CFC5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710289" y="3144394"/>
            <a:ext cx="950536" cy="950536"/>
          </a:xfrm>
          <a:prstGeom prst="rect">
            <a:avLst/>
          </a:prstGeom>
        </p:spPr>
      </p:pic>
      <p:sp>
        <p:nvSpPr>
          <p:cNvPr id="47" name="TextBox 46">
            <a:extLst>
              <a:ext uri="{FF2B5EF4-FFF2-40B4-BE49-F238E27FC236}">
                <a16:creationId xmlns:a16="http://schemas.microsoft.com/office/drawing/2014/main" id="{253629BF-D474-EAA4-7285-DC311574A33D}"/>
              </a:ext>
            </a:extLst>
          </p:cNvPr>
          <p:cNvSpPr txBox="1"/>
          <p:nvPr/>
        </p:nvSpPr>
        <p:spPr>
          <a:xfrm>
            <a:off x="8035762" y="4801098"/>
            <a:ext cx="174027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Deep-learning model</a:t>
            </a:r>
            <a:endParaRPr lang="en-GB" sz="1400" dirty="0"/>
          </a:p>
        </p:txBody>
      </p: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87768B1B-9757-DDB6-1896-ABED52B6677A}"/>
              </a:ext>
            </a:extLst>
          </p:cNvPr>
          <p:cNvCxnSpPr>
            <a:stCxn id="1032" idx="3"/>
            <a:endCxn id="43" idx="1"/>
          </p:cNvCxnSpPr>
          <p:nvPr/>
        </p:nvCxnSpPr>
        <p:spPr>
          <a:xfrm>
            <a:off x="9834754" y="3619662"/>
            <a:ext cx="87553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50" name="TextBox 49">
            <a:extLst>
              <a:ext uri="{FF2B5EF4-FFF2-40B4-BE49-F238E27FC236}">
                <a16:creationId xmlns:a16="http://schemas.microsoft.com/office/drawing/2014/main" id="{A6A66DF8-E1B9-A4FC-0EDD-1B0FE4E24985}"/>
              </a:ext>
            </a:extLst>
          </p:cNvPr>
          <p:cNvSpPr txBox="1"/>
          <p:nvPr/>
        </p:nvSpPr>
        <p:spPr>
          <a:xfrm>
            <a:off x="10632754" y="4077823"/>
            <a:ext cx="1416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Detailed Text summary of inference</a:t>
            </a:r>
            <a:endParaRPr lang="en-GB" sz="1600" dirty="0"/>
          </a:p>
        </p:txBody>
      </p:sp>
    </p:spTree>
    <p:extLst>
      <p:ext uri="{BB962C8B-B14F-4D97-AF65-F5344CB8AC3E}">
        <p14:creationId xmlns:p14="http://schemas.microsoft.com/office/powerpoint/2010/main" val="13629528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 descr="Clipboard outline">
            <a:extLst>
              <a:ext uri="{FF2B5EF4-FFF2-40B4-BE49-F238E27FC236}">
                <a16:creationId xmlns:a16="http://schemas.microsoft.com/office/drawing/2014/main" id="{9891545E-F24A-9D41-418A-8C308931EA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85816" y="1338606"/>
            <a:ext cx="836418" cy="836418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5E966B61-001B-3076-7569-8764EBEE081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6853" y="4205018"/>
            <a:ext cx="1414092" cy="1373222"/>
          </a:xfrm>
          <a:prstGeom prst="rect">
            <a:avLst/>
          </a:prstGeom>
        </p:spPr>
      </p:pic>
      <p:pic>
        <p:nvPicPr>
          <p:cNvPr id="1026" name="Picture 2" descr="Neural Network Stock Illustrations – 53,324 Neural Network Stock  Illustrations, Vectors &amp; Clipart - Dreamstime">
            <a:extLst>
              <a:ext uri="{FF2B5EF4-FFF2-40B4-BE49-F238E27FC236}">
                <a16:creationId xmlns:a16="http://schemas.microsoft.com/office/drawing/2014/main" id="{8A6A2C64-308E-3BFB-041F-03F5D1893B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10456" y="855271"/>
            <a:ext cx="2078420" cy="149646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Everything you need to know to master Convolutional Neural Networks">
            <a:extLst>
              <a:ext uri="{FF2B5EF4-FFF2-40B4-BE49-F238E27FC236}">
                <a16:creationId xmlns:a16="http://schemas.microsoft.com/office/drawing/2014/main" id="{9CEE3A10-019D-C168-DA4F-3223C15C75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18126" y="4180174"/>
            <a:ext cx="1631540" cy="15674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Structure of long short term memory(LSTM).... | Download Scientific Diagram">
            <a:extLst>
              <a:ext uri="{FF2B5EF4-FFF2-40B4-BE49-F238E27FC236}">
                <a16:creationId xmlns:a16="http://schemas.microsoft.com/office/drawing/2014/main" id="{44388160-5FCC-163C-5D18-B8FD760267F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22970" y="2238208"/>
            <a:ext cx="2274012" cy="168154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F197C85-D6B0-C4B0-9597-B8E50DC5A5C4}"/>
              </a:ext>
            </a:extLst>
          </p:cNvPr>
          <p:cNvSpPr txBox="1"/>
          <p:nvPr/>
        </p:nvSpPr>
        <p:spPr>
          <a:xfrm>
            <a:off x="263683" y="2216466"/>
            <a:ext cx="142770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Numerical and categorical data</a:t>
            </a:r>
            <a:endParaRPr lang="en-GB" sz="14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9FD2A59-9407-1109-28E2-B9D547E952B4}"/>
              </a:ext>
            </a:extLst>
          </p:cNvPr>
          <p:cNvSpPr txBox="1"/>
          <p:nvPr/>
        </p:nvSpPr>
        <p:spPr>
          <a:xfrm>
            <a:off x="269051" y="5424351"/>
            <a:ext cx="142770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400" dirty="0"/>
              <a:t>Scan Image data</a:t>
            </a:r>
            <a:endParaRPr lang="en-GB" sz="1400" dirty="0"/>
          </a:p>
        </p:txBody>
      </p:sp>
      <p:pic>
        <p:nvPicPr>
          <p:cNvPr id="6" name="Picture 2" descr="Neural Network Stock Illustrations – 53,324 Neural Network Stock  Illustrations, Vectors &amp; Clipart - Dreamstime">
            <a:extLst>
              <a:ext uri="{FF2B5EF4-FFF2-40B4-BE49-F238E27FC236}">
                <a16:creationId xmlns:a16="http://schemas.microsoft.com/office/drawing/2014/main" id="{CDDFA26D-F980-263D-E1B0-DCC8F9A7DA9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886281" y="4328461"/>
            <a:ext cx="1722710" cy="12403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3B7FDCD4-4CDD-78B7-E1D8-F27BE6F5B5B5}"/>
              </a:ext>
            </a:extLst>
          </p:cNvPr>
          <p:cNvSpPr txBox="1"/>
          <p:nvPr/>
        </p:nvSpPr>
        <p:spPr>
          <a:xfrm>
            <a:off x="2064233" y="1385469"/>
            <a:ext cx="2214899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dirty="0"/>
              <a:t>Pre-processing Layer</a:t>
            </a:r>
          </a:p>
          <a:p>
            <a:r>
              <a:rPr lang="en-IN" sz="1600" dirty="0"/>
              <a:t>(Feature scaling, </a:t>
            </a:r>
            <a:br>
              <a:rPr lang="en-IN" sz="1600" dirty="0"/>
            </a:br>
            <a:r>
              <a:rPr lang="en-IN" sz="1600" dirty="0"/>
              <a:t>de-noising, normalizing)</a:t>
            </a:r>
            <a:endParaRPr lang="en-GB" sz="16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5C2D9693-6851-A7E1-A5B4-F08E6B86270C}"/>
              </a:ext>
            </a:extLst>
          </p:cNvPr>
          <p:cNvSpPr txBox="1"/>
          <p:nvPr/>
        </p:nvSpPr>
        <p:spPr>
          <a:xfrm>
            <a:off x="5153390" y="2227118"/>
            <a:ext cx="1853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Fully connected dense + dropouts</a:t>
            </a:r>
            <a:endParaRPr lang="en-GB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E4C84C6-D7C0-8B00-C481-4D72AD1A30D3}"/>
              </a:ext>
            </a:extLst>
          </p:cNvPr>
          <p:cNvSpPr txBox="1"/>
          <p:nvPr/>
        </p:nvSpPr>
        <p:spPr>
          <a:xfrm>
            <a:off x="2019499" y="4593354"/>
            <a:ext cx="1963818" cy="830997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sz="1600" dirty="0"/>
              <a:t>Pre-processing Filters</a:t>
            </a:r>
            <a:br>
              <a:rPr lang="en-IN" sz="1600" dirty="0"/>
            </a:br>
            <a:r>
              <a:rPr lang="en-IN" sz="1600" dirty="0"/>
              <a:t>(Noise removal and edge detection)</a:t>
            </a:r>
            <a:endParaRPr lang="en-GB" sz="16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F1061B8F-F2AE-4DD1-D87B-179D1EE06054}"/>
              </a:ext>
            </a:extLst>
          </p:cNvPr>
          <p:cNvSpPr txBox="1"/>
          <p:nvPr/>
        </p:nvSpPr>
        <p:spPr>
          <a:xfrm>
            <a:off x="4813630" y="5686089"/>
            <a:ext cx="2609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CNNs + </a:t>
            </a:r>
            <a:r>
              <a:rPr lang="en-IN" dirty="0" err="1"/>
              <a:t>Maxpool</a:t>
            </a:r>
            <a:r>
              <a:rPr lang="en-IN" dirty="0"/>
              <a:t> + Dense with </a:t>
            </a:r>
            <a:r>
              <a:rPr lang="en-IN" dirty="0" err="1"/>
              <a:t>ReLu</a:t>
            </a:r>
            <a:endParaRPr lang="en-GB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0342A6C-87CD-831D-620D-8649B12BE800}"/>
              </a:ext>
            </a:extLst>
          </p:cNvPr>
          <p:cNvSpPr txBox="1"/>
          <p:nvPr/>
        </p:nvSpPr>
        <p:spPr>
          <a:xfrm>
            <a:off x="7909849" y="568977"/>
            <a:ext cx="185369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Inference can be directly made</a:t>
            </a:r>
            <a:endParaRPr lang="en-GB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F0BD380B-6DE7-7421-97E0-B4CF89027F1F}"/>
              </a:ext>
            </a:extLst>
          </p:cNvPr>
          <p:cNvSpPr txBox="1"/>
          <p:nvPr/>
        </p:nvSpPr>
        <p:spPr>
          <a:xfrm>
            <a:off x="8143621" y="5592529"/>
            <a:ext cx="1853699" cy="646331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IN" dirty="0"/>
              <a:t>Inference can be directly made</a:t>
            </a:r>
            <a:endParaRPr lang="en-GB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FAA6B59E-10FE-9146-18F8-4E55FA81FAF0}"/>
              </a:ext>
            </a:extLst>
          </p:cNvPr>
          <p:cNvSpPr txBox="1"/>
          <p:nvPr/>
        </p:nvSpPr>
        <p:spPr>
          <a:xfrm>
            <a:off x="8022970" y="3995018"/>
            <a:ext cx="260978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Pre-trained NLG layer </a:t>
            </a:r>
            <a:br>
              <a:rPr lang="en-IN" dirty="0"/>
            </a:br>
            <a:r>
              <a:rPr lang="en-IN" dirty="0"/>
              <a:t>(BERT)</a:t>
            </a:r>
            <a:endParaRPr lang="en-GB" dirty="0"/>
          </a:p>
        </p:txBody>
      </p:sp>
      <p:pic>
        <p:nvPicPr>
          <p:cNvPr id="16" name="Graphic 15" descr="Document outline">
            <a:extLst>
              <a:ext uri="{FF2B5EF4-FFF2-40B4-BE49-F238E27FC236}">
                <a16:creationId xmlns:a16="http://schemas.microsoft.com/office/drawing/2014/main" id="{4B1FB84D-2179-E670-6253-BD4617D609A9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872453" y="2478076"/>
            <a:ext cx="950536" cy="95053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2117BC0D-13AF-FC4A-C4A4-0A0C514CA0B3}"/>
              </a:ext>
            </a:extLst>
          </p:cNvPr>
          <p:cNvSpPr txBox="1"/>
          <p:nvPr/>
        </p:nvSpPr>
        <p:spPr>
          <a:xfrm>
            <a:off x="10794918" y="3411505"/>
            <a:ext cx="14166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Detailed Text summary of inference</a:t>
            </a:r>
            <a:endParaRPr lang="en-GB" sz="1600" dirty="0"/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C45C3BEF-8DAE-3524-D107-D55876628619}"/>
              </a:ext>
            </a:extLst>
          </p:cNvPr>
          <p:cNvCxnSpPr>
            <a:stCxn id="5" idx="3"/>
          </p:cNvCxnSpPr>
          <p:nvPr/>
        </p:nvCxnSpPr>
        <p:spPr>
          <a:xfrm flipV="1">
            <a:off x="1322234" y="1756814"/>
            <a:ext cx="697265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BE7CD363-575F-B818-81FB-4F525914F1BC}"/>
              </a:ext>
            </a:extLst>
          </p:cNvPr>
          <p:cNvCxnSpPr>
            <a:cxnSpLocks/>
          </p:cNvCxnSpPr>
          <p:nvPr/>
        </p:nvCxnSpPr>
        <p:spPr>
          <a:xfrm>
            <a:off x="1461155" y="4891629"/>
            <a:ext cx="48076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47D41B5-F9E2-CD49-C751-7089685AE0A2}"/>
              </a:ext>
            </a:extLst>
          </p:cNvPr>
          <p:cNvCxnSpPr>
            <a:cxnSpLocks/>
          </p:cNvCxnSpPr>
          <p:nvPr/>
        </p:nvCxnSpPr>
        <p:spPr>
          <a:xfrm>
            <a:off x="4418126" y="1741389"/>
            <a:ext cx="67110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5CB110F-4BE2-6A3A-06E8-8B637FC2578D}"/>
              </a:ext>
            </a:extLst>
          </p:cNvPr>
          <p:cNvCxnSpPr>
            <a:cxnSpLocks/>
            <a:endCxn id="1028" idx="1"/>
          </p:cNvCxnSpPr>
          <p:nvPr/>
        </p:nvCxnSpPr>
        <p:spPr>
          <a:xfrm>
            <a:off x="4066376" y="4963883"/>
            <a:ext cx="35175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13AB0F1-8F05-7A74-11F6-9D29C79B25AB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7102774" y="892143"/>
            <a:ext cx="807075" cy="5498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C87C89F1-E096-EE25-91CF-CDCC2F8F9495}"/>
              </a:ext>
            </a:extLst>
          </p:cNvPr>
          <p:cNvCxnSpPr>
            <a:cxnSpLocks/>
          </p:cNvCxnSpPr>
          <p:nvPr/>
        </p:nvCxnSpPr>
        <p:spPr>
          <a:xfrm>
            <a:off x="7110003" y="1918360"/>
            <a:ext cx="912967" cy="5597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33A92F34-71C0-2EFB-2F1F-41F600DA9E50}"/>
              </a:ext>
            </a:extLst>
          </p:cNvPr>
          <p:cNvCxnSpPr>
            <a:cxnSpLocks/>
          </p:cNvCxnSpPr>
          <p:nvPr/>
        </p:nvCxnSpPr>
        <p:spPr>
          <a:xfrm>
            <a:off x="7423013" y="5426077"/>
            <a:ext cx="599957" cy="4442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05A81636-A594-B40E-7794-2A304473DFA3}"/>
              </a:ext>
            </a:extLst>
          </p:cNvPr>
          <p:cNvCxnSpPr>
            <a:cxnSpLocks/>
          </p:cNvCxnSpPr>
          <p:nvPr/>
        </p:nvCxnSpPr>
        <p:spPr>
          <a:xfrm flipV="1">
            <a:off x="7467051" y="3714444"/>
            <a:ext cx="676570" cy="94376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BCD1CF7D-0722-C945-7292-15D926AE78D2}"/>
              </a:ext>
            </a:extLst>
          </p:cNvPr>
          <p:cNvCxnSpPr>
            <a:cxnSpLocks/>
          </p:cNvCxnSpPr>
          <p:nvPr/>
        </p:nvCxnSpPr>
        <p:spPr>
          <a:xfrm>
            <a:off x="10422817" y="3078982"/>
            <a:ext cx="40842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5710580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92</Words>
  <Application>Microsoft Office PowerPoint</Application>
  <PresentationFormat>Widescreen</PresentationFormat>
  <Paragraphs>18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Wycliffe, Samuel</dc:creator>
  <cp:lastModifiedBy>Wycliffe, Samuel</cp:lastModifiedBy>
  <cp:revision>2</cp:revision>
  <dcterms:created xsi:type="dcterms:W3CDTF">2023-05-07T09:05:12Z</dcterms:created>
  <dcterms:modified xsi:type="dcterms:W3CDTF">2023-05-07T16:23:51Z</dcterms:modified>
</cp:coreProperties>
</file>